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1119" r:id="rId2"/>
    <p:sldId id="1518" r:id="rId3"/>
    <p:sldId id="1519" r:id="rId4"/>
    <p:sldId id="1520" r:id="rId5"/>
    <p:sldId id="1521" r:id="rId6"/>
    <p:sldId id="1522" r:id="rId7"/>
    <p:sldId id="1523" r:id="rId8"/>
    <p:sldId id="1528" r:id="rId9"/>
    <p:sldId id="1530" r:id="rId10"/>
    <p:sldId id="1531" r:id="rId11"/>
    <p:sldId id="1532" r:id="rId12"/>
    <p:sldId id="1533" r:id="rId13"/>
    <p:sldId id="1534" r:id="rId14"/>
    <p:sldId id="1524" r:id="rId15"/>
    <p:sldId id="1525" r:id="rId16"/>
    <p:sldId id="1526" r:id="rId17"/>
    <p:sldId id="151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D1929-C694-46D9-B9D5-C92B2C970C01}" v="41" dt="2026-09-20T19:45:59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utyunjay rana" userId="8aad90356bfd63a8" providerId="LiveId" clId="{60CFA60A-64DB-458F-BCAD-23900545B2CA}"/>
    <pc:docChg chg="undo custSel addSld delSld modSld">
      <pc:chgData name="mrutyunjay rana" userId="8aad90356bfd63a8" providerId="LiveId" clId="{60CFA60A-64DB-458F-BCAD-23900545B2CA}" dt="2026-09-20T19:46:08.998" v="790" actId="255"/>
      <pc:docMkLst>
        <pc:docMk/>
      </pc:docMkLst>
      <pc:sldChg chg="modSp mod">
        <pc:chgData name="mrutyunjay rana" userId="8aad90356bfd63a8" providerId="LiveId" clId="{60CFA60A-64DB-458F-BCAD-23900545B2CA}" dt="2026-09-20T16:35:11.958" v="10" actId="5793"/>
        <pc:sldMkLst>
          <pc:docMk/>
          <pc:sldMk cId="3071345316" sldId="1119"/>
        </pc:sldMkLst>
        <pc:spChg chg="mod">
          <ac:chgData name="mrutyunjay rana" userId="8aad90356bfd63a8" providerId="LiveId" clId="{60CFA60A-64DB-458F-BCAD-23900545B2CA}" dt="2026-09-20T16:35:11.958" v="10" actId="5793"/>
          <ac:spMkLst>
            <pc:docMk/>
            <pc:sldMk cId="3071345316" sldId="1119"/>
            <ac:spMk id="6" creationId="{90442236-97FB-B05B-E10C-B3CE7B365FD7}"/>
          </ac:spMkLst>
        </pc:spChg>
      </pc:sldChg>
      <pc:sldChg chg="addSp delSp modSp mod">
        <pc:chgData name="mrutyunjay rana" userId="8aad90356bfd63a8" providerId="LiveId" clId="{60CFA60A-64DB-458F-BCAD-23900545B2CA}" dt="2026-09-20T19:46:08.998" v="790" actId="255"/>
        <pc:sldMkLst>
          <pc:docMk/>
          <pc:sldMk cId="2709024968" sldId="1522"/>
        </pc:sldMkLst>
        <pc:spChg chg="del mod">
          <ac:chgData name="mrutyunjay rana" userId="8aad90356bfd63a8" providerId="LiveId" clId="{60CFA60A-64DB-458F-BCAD-23900545B2CA}" dt="2026-09-20T16:41:31.562" v="188"/>
          <ac:spMkLst>
            <pc:docMk/>
            <pc:sldMk cId="2709024968" sldId="1522"/>
            <ac:spMk id="3" creationId="{F6FB34F7-80D9-DB6B-8A12-A62757A41045}"/>
          </ac:spMkLst>
        </pc:spChg>
        <pc:spChg chg="add mod">
          <ac:chgData name="mrutyunjay rana" userId="8aad90356bfd63a8" providerId="LiveId" clId="{60CFA60A-64DB-458F-BCAD-23900545B2CA}" dt="2026-09-20T19:46:08.998" v="790" actId="255"/>
          <ac:spMkLst>
            <pc:docMk/>
            <pc:sldMk cId="2709024968" sldId="1522"/>
            <ac:spMk id="8" creationId="{91A8E949-95F2-ED4A-3962-0BA05DD36066}"/>
          </ac:spMkLst>
        </pc:spChg>
        <pc:picChg chg="add del mod">
          <ac:chgData name="mrutyunjay rana" userId="8aad90356bfd63a8" providerId="LiveId" clId="{60CFA60A-64DB-458F-BCAD-23900545B2CA}" dt="2026-09-20T19:44:28.508" v="781" actId="478"/>
          <ac:picMkLst>
            <pc:docMk/>
            <pc:sldMk cId="2709024968" sldId="1522"/>
            <ac:picMk id="5" creationId="{D3539F58-6EBF-4575-703B-43D8DFA8B686}"/>
          </ac:picMkLst>
        </pc:picChg>
        <pc:picChg chg="add mod">
          <ac:chgData name="mrutyunjay rana" userId="8aad90356bfd63a8" providerId="LiveId" clId="{60CFA60A-64DB-458F-BCAD-23900545B2CA}" dt="2026-09-20T19:45:45.710" v="785" actId="14100"/>
          <ac:picMkLst>
            <pc:docMk/>
            <pc:sldMk cId="2709024968" sldId="1522"/>
            <ac:picMk id="7" creationId="{B9E7812C-1EFA-ED6C-0318-17AFFCE011D9}"/>
          </ac:picMkLst>
        </pc:picChg>
      </pc:sldChg>
      <pc:sldChg chg="addSp delSp modSp mod">
        <pc:chgData name="mrutyunjay rana" userId="8aad90356bfd63a8" providerId="LiveId" clId="{60CFA60A-64DB-458F-BCAD-23900545B2CA}" dt="2026-09-20T19:05:38.109" v="750" actId="122"/>
        <pc:sldMkLst>
          <pc:docMk/>
          <pc:sldMk cId="778757896" sldId="1524"/>
        </pc:sldMkLst>
        <pc:spChg chg="mod">
          <ac:chgData name="mrutyunjay rana" userId="8aad90356bfd63a8" providerId="LiveId" clId="{60CFA60A-64DB-458F-BCAD-23900545B2CA}" dt="2026-09-20T19:04:12.497" v="670"/>
          <ac:spMkLst>
            <pc:docMk/>
            <pc:sldMk cId="778757896" sldId="1524"/>
            <ac:spMk id="2" creationId="{3C8E4227-928D-74E1-4FCF-B030C203D33E}"/>
          </ac:spMkLst>
        </pc:spChg>
        <pc:spChg chg="del">
          <ac:chgData name="mrutyunjay rana" userId="8aad90356bfd63a8" providerId="LiveId" clId="{60CFA60A-64DB-458F-BCAD-23900545B2CA}" dt="2026-09-20T19:04:14.578" v="671" actId="478"/>
          <ac:spMkLst>
            <pc:docMk/>
            <pc:sldMk cId="778757896" sldId="1524"/>
            <ac:spMk id="4" creationId="{3DFB3B8A-3588-CE37-9674-A90CC8757395}"/>
          </ac:spMkLst>
        </pc:spChg>
        <pc:spChg chg="mod">
          <ac:chgData name="mrutyunjay rana" userId="8aad90356bfd63a8" providerId="LiveId" clId="{60CFA60A-64DB-458F-BCAD-23900545B2CA}" dt="2026-09-20T19:05:18.024" v="748" actId="12"/>
          <ac:spMkLst>
            <pc:docMk/>
            <pc:sldMk cId="778757896" sldId="1524"/>
            <ac:spMk id="5" creationId="{5CF293C0-FE1F-7138-54E6-653AE1ED20AF}"/>
          </ac:spMkLst>
        </pc:spChg>
        <pc:spChg chg="add mod">
          <ac:chgData name="mrutyunjay rana" userId="8aad90356bfd63a8" providerId="LiveId" clId="{60CFA60A-64DB-458F-BCAD-23900545B2CA}" dt="2026-09-20T19:05:38.109" v="750" actId="122"/>
          <ac:spMkLst>
            <pc:docMk/>
            <pc:sldMk cId="778757896" sldId="1524"/>
            <ac:spMk id="6" creationId="{68797E66-9819-279C-0A74-7D1381844E70}"/>
          </ac:spMkLst>
        </pc:spChg>
      </pc:sldChg>
      <pc:sldChg chg="addSp delSp modSp mod">
        <pc:chgData name="mrutyunjay rana" userId="8aad90356bfd63a8" providerId="LiveId" clId="{60CFA60A-64DB-458F-BCAD-23900545B2CA}" dt="2026-09-20T19:08:50.302" v="768" actId="14100"/>
        <pc:sldMkLst>
          <pc:docMk/>
          <pc:sldMk cId="4170980787" sldId="1525"/>
        </pc:sldMkLst>
        <pc:spChg chg="mod">
          <ac:chgData name="mrutyunjay rana" userId="8aad90356bfd63a8" providerId="LiveId" clId="{60CFA60A-64DB-458F-BCAD-23900545B2CA}" dt="2026-09-20T19:06:50.764" v="754"/>
          <ac:spMkLst>
            <pc:docMk/>
            <pc:sldMk cId="4170980787" sldId="1525"/>
            <ac:spMk id="2" creationId="{6826C2D0-E53A-E803-9EE3-00C71FEDEDB1}"/>
          </ac:spMkLst>
        </pc:spChg>
        <pc:spChg chg="del mod">
          <ac:chgData name="mrutyunjay rana" userId="8aad90356bfd63a8" providerId="LiveId" clId="{60CFA60A-64DB-458F-BCAD-23900545B2CA}" dt="2026-09-20T19:06:52.130" v="756"/>
          <ac:spMkLst>
            <pc:docMk/>
            <pc:sldMk cId="4170980787" sldId="1525"/>
            <ac:spMk id="3" creationId="{59650427-006A-2711-C415-9D191ECBF1E5}"/>
          </ac:spMkLst>
        </pc:spChg>
        <pc:spChg chg="add mod">
          <ac:chgData name="mrutyunjay rana" userId="8aad90356bfd63a8" providerId="LiveId" clId="{60CFA60A-64DB-458F-BCAD-23900545B2CA}" dt="2026-09-20T19:08:14.102" v="763" actId="14100"/>
          <ac:spMkLst>
            <pc:docMk/>
            <pc:sldMk cId="4170980787" sldId="1525"/>
            <ac:spMk id="5" creationId="{F7E281C2-7107-873F-6ED3-11691586D4B2}"/>
          </ac:spMkLst>
        </pc:spChg>
        <pc:spChg chg="add mod">
          <ac:chgData name="mrutyunjay rana" userId="8aad90356bfd63a8" providerId="LiveId" clId="{60CFA60A-64DB-458F-BCAD-23900545B2CA}" dt="2026-09-20T19:08:50.302" v="768" actId="14100"/>
          <ac:spMkLst>
            <pc:docMk/>
            <pc:sldMk cId="4170980787" sldId="1525"/>
            <ac:spMk id="7" creationId="{30B88421-D12B-945A-5705-7D87D98BEAC6}"/>
          </ac:spMkLst>
        </pc:spChg>
      </pc:sldChg>
      <pc:sldChg chg="addSp modSp mod">
        <pc:chgData name="mrutyunjay rana" userId="8aad90356bfd63a8" providerId="LiveId" clId="{60CFA60A-64DB-458F-BCAD-23900545B2CA}" dt="2026-09-20T19:10:26.418" v="779" actId="14100"/>
        <pc:sldMkLst>
          <pc:docMk/>
          <pc:sldMk cId="3154734544" sldId="1526"/>
        </pc:sldMkLst>
        <pc:spChg chg="mod">
          <ac:chgData name="mrutyunjay rana" userId="8aad90356bfd63a8" providerId="LiveId" clId="{60CFA60A-64DB-458F-BCAD-23900545B2CA}" dt="2026-09-20T19:09:29.425" v="770"/>
          <ac:spMkLst>
            <pc:docMk/>
            <pc:sldMk cId="3154734544" sldId="1526"/>
            <ac:spMk id="2" creationId="{A1A71467-8102-46FA-591F-03B00D1610E2}"/>
          </ac:spMkLst>
        </pc:spChg>
        <pc:spChg chg="add mod">
          <ac:chgData name="mrutyunjay rana" userId="8aad90356bfd63a8" providerId="LiveId" clId="{60CFA60A-64DB-458F-BCAD-23900545B2CA}" dt="2026-09-20T19:10:26.418" v="779" actId="14100"/>
          <ac:spMkLst>
            <pc:docMk/>
            <pc:sldMk cId="3154734544" sldId="1526"/>
            <ac:spMk id="3" creationId="{F3672A43-5E79-EBAC-7F6B-CE7E8D3156BF}"/>
          </ac:spMkLst>
        </pc:spChg>
        <pc:spChg chg="mod">
          <ac:chgData name="mrutyunjay rana" userId="8aad90356bfd63a8" providerId="LiveId" clId="{60CFA60A-64DB-458F-BCAD-23900545B2CA}" dt="2026-09-20T19:09:59.027" v="775" actId="12"/>
          <ac:spMkLst>
            <pc:docMk/>
            <pc:sldMk cId="3154734544" sldId="1526"/>
            <ac:spMk id="4" creationId="{399E6006-12B3-F70E-E0AE-2B99C8EAB440}"/>
          </ac:spMkLst>
        </pc:spChg>
      </pc:sldChg>
      <pc:sldChg chg="del">
        <pc:chgData name="mrutyunjay rana" userId="8aad90356bfd63a8" providerId="LiveId" clId="{60CFA60A-64DB-458F-BCAD-23900545B2CA}" dt="2026-09-20T19:11:07.257" v="780" actId="2696"/>
        <pc:sldMkLst>
          <pc:docMk/>
          <pc:sldMk cId="3167177243" sldId="1527"/>
        </pc:sldMkLst>
      </pc:sldChg>
      <pc:sldChg chg="addSp modSp new mod">
        <pc:chgData name="mrutyunjay rana" userId="8aad90356bfd63a8" providerId="LiveId" clId="{60CFA60A-64DB-458F-BCAD-23900545B2CA}" dt="2026-09-20T18:10:40.107" v="221" actId="14100"/>
        <pc:sldMkLst>
          <pc:docMk/>
          <pc:sldMk cId="3516709797" sldId="1528"/>
        </pc:sldMkLst>
        <pc:spChg chg="mod">
          <ac:chgData name="mrutyunjay rana" userId="8aad90356bfd63a8" providerId="LiveId" clId="{60CFA60A-64DB-458F-BCAD-23900545B2CA}" dt="2026-09-20T18:08:47.774" v="206" actId="255"/>
          <ac:spMkLst>
            <pc:docMk/>
            <pc:sldMk cId="3516709797" sldId="1528"/>
            <ac:spMk id="2" creationId="{3DD9E00C-0B75-E06E-219A-CC3FC4740CC9}"/>
          </ac:spMkLst>
        </pc:spChg>
        <pc:spChg chg="add mod">
          <ac:chgData name="mrutyunjay rana" userId="8aad90356bfd63a8" providerId="LiveId" clId="{60CFA60A-64DB-458F-BCAD-23900545B2CA}" dt="2026-09-20T18:10:11.723" v="216" actId="12"/>
          <ac:spMkLst>
            <pc:docMk/>
            <pc:sldMk cId="3516709797" sldId="1528"/>
            <ac:spMk id="3" creationId="{80403D7E-21A1-B776-40BF-11EC6C591972}"/>
          </ac:spMkLst>
        </pc:spChg>
        <pc:spChg chg="add mod">
          <ac:chgData name="mrutyunjay rana" userId="8aad90356bfd63a8" providerId="LiveId" clId="{60CFA60A-64DB-458F-BCAD-23900545B2CA}" dt="2026-09-20T18:10:40.107" v="221" actId="14100"/>
          <ac:spMkLst>
            <pc:docMk/>
            <pc:sldMk cId="3516709797" sldId="1528"/>
            <ac:spMk id="4" creationId="{FFE2D2D0-36D5-D85C-198A-70AA9E1E555B}"/>
          </ac:spMkLst>
        </pc:spChg>
      </pc:sldChg>
      <pc:sldChg chg="addSp delSp modSp new del mod">
        <pc:chgData name="mrutyunjay rana" userId="8aad90356bfd63a8" providerId="LiveId" clId="{60CFA60A-64DB-458F-BCAD-23900545B2CA}" dt="2026-09-20T18:16:30.831" v="252" actId="2696"/>
        <pc:sldMkLst>
          <pc:docMk/>
          <pc:sldMk cId="1572819619" sldId="1529"/>
        </pc:sldMkLst>
        <pc:spChg chg="mod">
          <ac:chgData name="mrutyunjay rana" userId="8aad90356bfd63a8" providerId="LiveId" clId="{60CFA60A-64DB-458F-BCAD-23900545B2CA}" dt="2026-09-20T18:11:31.346" v="228" actId="122"/>
          <ac:spMkLst>
            <pc:docMk/>
            <pc:sldMk cId="1572819619" sldId="1529"/>
            <ac:spMk id="2" creationId="{C0D57F4F-91D0-9FF6-FA49-EA186B94457D}"/>
          </ac:spMkLst>
        </pc:spChg>
        <pc:spChg chg="add mod">
          <ac:chgData name="mrutyunjay rana" userId="8aad90356bfd63a8" providerId="LiveId" clId="{60CFA60A-64DB-458F-BCAD-23900545B2CA}" dt="2026-09-20T18:16:15.235" v="249" actId="14100"/>
          <ac:spMkLst>
            <pc:docMk/>
            <pc:sldMk cId="1572819619" sldId="1529"/>
            <ac:spMk id="5" creationId="{EC690143-172A-958A-3A41-7A5AC2CB0EFB}"/>
          </ac:spMkLst>
        </pc:spChg>
        <pc:spChg chg="add del mod">
          <ac:chgData name="mrutyunjay rana" userId="8aad90356bfd63a8" providerId="LiveId" clId="{60CFA60A-64DB-458F-BCAD-23900545B2CA}" dt="2026-09-20T18:16:20.878" v="251"/>
          <ac:spMkLst>
            <pc:docMk/>
            <pc:sldMk cId="1572819619" sldId="1529"/>
            <ac:spMk id="6" creationId="{11EE0F83-3FD7-81CC-EF1F-91FCF42C73A1}"/>
          </ac:spMkLst>
        </pc:spChg>
        <pc:picChg chg="add del mod">
          <ac:chgData name="mrutyunjay rana" userId="8aad90356bfd63a8" providerId="LiveId" clId="{60CFA60A-64DB-458F-BCAD-23900545B2CA}" dt="2026-09-20T18:15:11.710" v="242" actId="478"/>
          <ac:picMkLst>
            <pc:docMk/>
            <pc:sldMk cId="1572819619" sldId="1529"/>
            <ac:picMk id="4" creationId="{07AE302A-80E5-A328-9500-9B0924B64128}"/>
          </ac:picMkLst>
        </pc:picChg>
      </pc:sldChg>
      <pc:sldChg chg="addSp delSp modSp add mod">
        <pc:chgData name="mrutyunjay rana" userId="8aad90356bfd63a8" providerId="LiveId" clId="{60CFA60A-64DB-458F-BCAD-23900545B2CA}" dt="2026-09-20T18:43:35.945" v="522" actId="14100"/>
        <pc:sldMkLst>
          <pc:docMk/>
          <pc:sldMk cId="3594010774" sldId="1530"/>
        </pc:sldMkLst>
        <pc:spChg chg="mod">
          <ac:chgData name="mrutyunjay rana" userId="8aad90356bfd63a8" providerId="LiveId" clId="{60CFA60A-64DB-458F-BCAD-23900545B2CA}" dt="2026-09-20T18:16:57.179" v="254"/>
          <ac:spMkLst>
            <pc:docMk/>
            <pc:sldMk cId="3594010774" sldId="1530"/>
            <ac:spMk id="2" creationId="{90874BCF-C304-7681-DE36-9EFEBCEFECAB}"/>
          </ac:spMkLst>
        </pc:spChg>
        <pc:spChg chg="add del mod">
          <ac:chgData name="mrutyunjay rana" userId="8aad90356bfd63a8" providerId="LiveId" clId="{60CFA60A-64DB-458F-BCAD-23900545B2CA}" dt="2026-09-20T18:17:07.683" v="258"/>
          <ac:spMkLst>
            <pc:docMk/>
            <pc:sldMk cId="3594010774" sldId="1530"/>
            <ac:spMk id="3" creationId="{8BECD6DE-33A2-A664-5FC9-69CA3C79D931}"/>
          </ac:spMkLst>
        </pc:spChg>
        <pc:spChg chg="add mod">
          <ac:chgData name="mrutyunjay rana" userId="8aad90356bfd63a8" providerId="LiveId" clId="{60CFA60A-64DB-458F-BCAD-23900545B2CA}" dt="2026-09-20T18:17:49.773" v="264"/>
          <ac:spMkLst>
            <pc:docMk/>
            <pc:sldMk cId="3594010774" sldId="1530"/>
            <ac:spMk id="5" creationId="{46463A26-05D2-37AD-14F2-F34C5D6AF78F}"/>
          </ac:spMkLst>
        </pc:spChg>
        <pc:spChg chg="add mod">
          <ac:chgData name="mrutyunjay rana" userId="8aad90356bfd63a8" providerId="LiveId" clId="{60CFA60A-64DB-458F-BCAD-23900545B2CA}" dt="2026-09-20T18:19:14.126" v="274" actId="14100"/>
          <ac:spMkLst>
            <pc:docMk/>
            <pc:sldMk cId="3594010774" sldId="1530"/>
            <ac:spMk id="6" creationId="{144ED097-5CC7-E29F-2ABF-BC3EFE50AD8F}"/>
          </ac:spMkLst>
        </pc:spChg>
        <pc:picChg chg="del mod">
          <ac:chgData name="mrutyunjay rana" userId="8aad90356bfd63a8" providerId="LiveId" clId="{60CFA60A-64DB-458F-BCAD-23900545B2CA}" dt="2026-09-20T18:43:14.835" v="516" actId="478"/>
          <ac:picMkLst>
            <pc:docMk/>
            <pc:sldMk cId="3594010774" sldId="1530"/>
            <ac:picMk id="4" creationId="{67438747-E6E2-B86E-3B08-6DAED6461CFB}"/>
          </ac:picMkLst>
        </pc:picChg>
        <pc:picChg chg="add mod">
          <ac:chgData name="mrutyunjay rana" userId="8aad90356bfd63a8" providerId="LiveId" clId="{60CFA60A-64DB-458F-BCAD-23900545B2CA}" dt="2026-09-20T18:43:35.945" v="522" actId="14100"/>
          <ac:picMkLst>
            <pc:docMk/>
            <pc:sldMk cId="3594010774" sldId="1530"/>
            <ac:picMk id="8" creationId="{C5C1C82A-B165-83F5-AF3A-5ACC4C2B7BF6}"/>
          </ac:picMkLst>
        </pc:picChg>
      </pc:sldChg>
      <pc:sldChg chg="addSp delSp modSp add mod">
        <pc:chgData name="mrutyunjay rana" userId="8aad90356bfd63a8" providerId="LiveId" clId="{60CFA60A-64DB-458F-BCAD-23900545B2CA}" dt="2026-09-20T18:42:44.560" v="515" actId="20577"/>
        <pc:sldMkLst>
          <pc:docMk/>
          <pc:sldMk cId="324448394" sldId="1531"/>
        </pc:sldMkLst>
        <pc:spChg chg="mod">
          <ac:chgData name="mrutyunjay rana" userId="8aad90356bfd63a8" providerId="LiveId" clId="{60CFA60A-64DB-458F-BCAD-23900545B2CA}" dt="2026-09-20T18:41:07.103" v="278"/>
          <ac:spMkLst>
            <pc:docMk/>
            <pc:sldMk cId="324448394" sldId="1531"/>
            <ac:spMk id="2" creationId="{24A15690-EA35-ADD5-C1C4-0EAB5F50ADF8}"/>
          </ac:spMkLst>
        </pc:spChg>
        <pc:spChg chg="mod">
          <ac:chgData name="mrutyunjay rana" userId="8aad90356bfd63a8" providerId="LiveId" clId="{60CFA60A-64DB-458F-BCAD-23900545B2CA}" dt="2026-09-20T18:42:44.560" v="515" actId="20577"/>
          <ac:spMkLst>
            <pc:docMk/>
            <pc:sldMk cId="324448394" sldId="1531"/>
            <ac:spMk id="6" creationId="{5DDBD8AB-FA4D-C3EE-CAC5-251B8AA9A278}"/>
          </ac:spMkLst>
        </pc:spChg>
        <pc:picChg chg="del">
          <ac:chgData name="mrutyunjay rana" userId="8aad90356bfd63a8" providerId="LiveId" clId="{60CFA60A-64DB-458F-BCAD-23900545B2CA}" dt="2026-09-20T18:40:55.170" v="276" actId="478"/>
          <ac:picMkLst>
            <pc:docMk/>
            <pc:sldMk cId="324448394" sldId="1531"/>
            <ac:picMk id="4" creationId="{393EFE50-84AD-BEE2-0916-E36A49FC9BD8}"/>
          </ac:picMkLst>
        </pc:picChg>
        <pc:picChg chg="add mod">
          <ac:chgData name="mrutyunjay rana" userId="8aad90356bfd63a8" providerId="LiveId" clId="{60CFA60A-64DB-458F-BCAD-23900545B2CA}" dt="2026-09-20T18:41:59.124" v="286" actId="14100"/>
          <ac:picMkLst>
            <pc:docMk/>
            <pc:sldMk cId="324448394" sldId="1531"/>
            <ac:picMk id="7" creationId="{49C49E24-D771-529F-A522-78C299CE9450}"/>
          </ac:picMkLst>
        </pc:picChg>
      </pc:sldChg>
      <pc:sldChg chg="addSp delSp modSp add mod">
        <pc:chgData name="mrutyunjay rana" userId="8aad90356bfd63a8" providerId="LiveId" clId="{60CFA60A-64DB-458F-BCAD-23900545B2CA}" dt="2026-09-20T18:45:57.395" v="596" actId="14100"/>
        <pc:sldMkLst>
          <pc:docMk/>
          <pc:sldMk cId="773225574" sldId="1532"/>
        </pc:sldMkLst>
        <pc:spChg chg="mod">
          <ac:chgData name="mrutyunjay rana" userId="8aad90356bfd63a8" providerId="LiveId" clId="{60CFA60A-64DB-458F-BCAD-23900545B2CA}" dt="2026-09-20T18:44:27.447" v="582"/>
          <ac:spMkLst>
            <pc:docMk/>
            <pc:sldMk cId="773225574" sldId="1532"/>
            <ac:spMk id="2" creationId="{3A8AFBF7-1AC2-9C9C-094F-BBC7F45C1000}"/>
          </ac:spMkLst>
        </pc:spChg>
        <pc:spChg chg="mod">
          <ac:chgData name="mrutyunjay rana" userId="8aad90356bfd63a8" providerId="LiveId" clId="{60CFA60A-64DB-458F-BCAD-23900545B2CA}" dt="2026-09-20T18:45:57.395" v="596" actId="14100"/>
          <ac:spMkLst>
            <pc:docMk/>
            <pc:sldMk cId="773225574" sldId="1532"/>
            <ac:spMk id="6" creationId="{14A233F2-1763-78E6-85B0-71C04C11545A}"/>
          </ac:spMkLst>
        </pc:spChg>
        <pc:picChg chg="add mod">
          <ac:chgData name="mrutyunjay rana" userId="8aad90356bfd63a8" providerId="LiveId" clId="{60CFA60A-64DB-458F-BCAD-23900545B2CA}" dt="2026-09-20T18:45:17.986" v="591" actId="14100"/>
          <ac:picMkLst>
            <pc:docMk/>
            <pc:sldMk cId="773225574" sldId="1532"/>
            <ac:picMk id="4" creationId="{807C1622-C701-5E1C-DA28-FD22E64FC284}"/>
          </ac:picMkLst>
        </pc:picChg>
        <pc:picChg chg="del">
          <ac:chgData name="mrutyunjay rana" userId="8aad90356bfd63a8" providerId="LiveId" clId="{60CFA60A-64DB-458F-BCAD-23900545B2CA}" dt="2026-09-20T18:43:54.957" v="524" actId="478"/>
          <ac:picMkLst>
            <pc:docMk/>
            <pc:sldMk cId="773225574" sldId="1532"/>
            <ac:picMk id="7" creationId="{EC9D8805-314D-4DCF-5EDC-359A67A36962}"/>
          </ac:picMkLst>
        </pc:picChg>
      </pc:sldChg>
      <pc:sldChg chg="addSp delSp modSp add mod">
        <pc:chgData name="mrutyunjay rana" userId="8aad90356bfd63a8" providerId="LiveId" clId="{60CFA60A-64DB-458F-BCAD-23900545B2CA}" dt="2026-09-20T18:56:12.885" v="622" actId="12"/>
        <pc:sldMkLst>
          <pc:docMk/>
          <pc:sldMk cId="4103294474" sldId="1533"/>
        </pc:sldMkLst>
        <pc:spChg chg="mod">
          <ac:chgData name="mrutyunjay rana" userId="8aad90356bfd63a8" providerId="LiveId" clId="{60CFA60A-64DB-458F-BCAD-23900545B2CA}" dt="2026-09-20T18:53:37.942" v="605"/>
          <ac:spMkLst>
            <pc:docMk/>
            <pc:sldMk cId="4103294474" sldId="1533"/>
            <ac:spMk id="2" creationId="{2C3D979D-63FB-3FF8-04D4-28981D3017BC}"/>
          </ac:spMkLst>
        </pc:spChg>
        <pc:spChg chg="add mod">
          <ac:chgData name="mrutyunjay rana" userId="8aad90356bfd63a8" providerId="LiveId" clId="{60CFA60A-64DB-458F-BCAD-23900545B2CA}" dt="2026-09-20T18:56:08.613" v="621" actId="12"/>
          <ac:spMkLst>
            <pc:docMk/>
            <pc:sldMk cId="4103294474" sldId="1533"/>
            <ac:spMk id="3" creationId="{90F9399E-E699-938D-E2B9-0CD2FBD6D19F}"/>
          </ac:spMkLst>
        </pc:spChg>
        <pc:spChg chg="del mod">
          <ac:chgData name="mrutyunjay rana" userId="8aad90356bfd63a8" providerId="LiveId" clId="{60CFA60A-64DB-458F-BCAD-23900545B2CA}" dt="2026-09-20T18:53:32.332" v="603"/>
          <ac:spMkLst>
            <pc:docMk/>
            <pc:sldMk cId="4103294474" sldId="1533"/>
            <ac:spMk id="6" creationId="{725ADDB0-C22D-E16E-4CFC-43B5B2189C0C}"/>
          </ac:spMkLst>
        </pc:spChg>
        <pc:spChg chg="add del mod">
          <ac:chgData name="mrutyunjay rana" userId="8aad90356bfd63a8" providerId="LiveId" clId="{60CFA60A-64DB-458F-BCAD-23900545B2CA}" dt="2026-09-20T18:55:08.454" v="615"/>
          <ac:spMkLst>
            <pc:docMk/>
            <pc:sldMk cId="4103294474" sldId="1533"/>
            <ac:spMk id="7" creationId="{87AAF447-DFD7-8EC8-2FE8-D3BFC3F84E2F}"/>
          </ac:spMkLst>
        </pc:spChg>
        <pc:spChg chg="add mod">
          <ac:chgData name="mrutyunjay rana" userId="8aad90356bfd63a8" providerId="LiveId" clId="{60CFA60A-64DB-458F-BCAD-23900545B2CA}" dt="2026-09-20T18:56:12.885" v="622" actId="12"/>
          <ac:spMkLst>
            <pc:docMk/>
            <pc:sldMk cId="4103294474" sldId="1533"/>
            <ac:spMk id="10" creationId="{76E9394B-B070-AA47-797C-CC67B4F3406A}"/>
          </ac:spMkLst>
        </pc:spChg>
        <pc:picChg chg="del">
          <ac:chgData name="mrutyunjay rana" userId="8aad90356bfd63a8" providerId="LiveId" clId="{60CFA60A-64DB-458F-BCAD-23900545B2CA}" dt="2026-09-20T18:53:22.644" v="598" actId="478"/>
          <ac:picMkLst>
            <pc:docMk/>
            <pc:sldMk cId="4103294474" sldId="1533"/>
            <ac:picMk id="4" creationId="{9A6D6BB9-9B95-230A-2D59-4E4713B6DC61}"/>
          </ac:picMkLst>
        </pc:picChg>
        <pc:picChg chg="add mod">
          <ac:chgData name="mrutyunjay rana" userId="8aad90356bfd63a8" providerId="LiveId" clId="{60CFA60A-64DB-458F-BCAD-23900545B2CA}" dt="2026-09-20T18:55:07.509" v="613" actId="1076"/>
          <ac:picMkLst>
            <pc:docMk/>
            <pc:sldMk cId="4103294474" sldId="1533"/>
            <ac:picMk id="9" creationId="{8785C613-632E-E6C3-D6DD-3AF18BC0BD07}"/>
          </ac:picMkLst>
        </pc:picChg>
      </pc:sldChg>
      <pc:sldChg chg="addSp delSp modSp add mod">
        <pc:chgData name="mrutyunjay rana" userId="8aad90356bfd63a8" providerId="LiveId" clId="{60CFA60A-64DB-458F-BCAD-23900545B2CA}" dt="2026-09-20T19:02:50.862" v="652" actId="14100"/>
        <pc:sldMkLst>
          <pc:docMk/>
          <pc:sldMk cId="2470527098" sldId="1534"/>
        </pc:sldMkLst>
        <pc:spChg chg="mod">
          <ac:chgData name="mrutyunjay rana" userId="8aad90356bfd63a8" providerId="LiveId" clId="{60CFA60A-64DB-458F-BCAD-23900545B2CA}" dt="2026-09-20T18:57:13.333" v="632"/>
          <ac:spMkLst>
            <pc:docMk/>
            <pc:sldMk cId="2470527098" sldId="1534"/>
            <ac:spMk id="2" creationId="{AB850340-5D9C-8E20-3B04-D08952847F84}"/>
          </ac:spMkLst>
        </pc:spChg>
        <pc:spChg chg="del mod">
          <ac:chgData name="mrutyunjay rana" userId="8aad90356bfd63a8" providerId="LiveId" clId="{60CFA60A-64DB-458F-BCAD-23900545B2CA}" dt="2026-09-20T18:57:03.177" v="628"/>
          <ac:spMkLst>
            <pc:docMk/>
            <pc:sldMk cId="2470527098" sldId="1534"/>
            <ac:spMk id="3" creationId="{74022FFC-F424-B6D1-681E-00D32BFEDFE7}"/>
          </ac:spMkLst>
        </pc:spChg>
        <pc:spChg chg="add mod">
          <ac:chgData name="mrutyunjay rana" userId="8aad90356bfd63a8" providerId="LiveId" clId="{60CFA60A-64DB-458F-BCAD-23900545B2CA}" dt="2026-09-20T19:02:50.862" v="652" actId="14100"/>
          <ac:spMkLst>
            <pc:docMk/>
            <pc:sldMk cId="2470527098" sldId="1534"/>
            <ac:spMk id="7" creationId="{FFB91985-F256-BDDF-C2C8-F756A135C5E3}"/>
          </ac:spMkLst>
        </pc:spChg>
        <pc:spChg chg="del mod">
          <ac:chgData name="mrutyunjay rana" userId="8aad90356bfd63a8" providerId="LiveId" clId="{60CFA60A-64DB-458F-BCAD-23900545B2CA}" dt="2026-09-20T18:57:14.808" v="634"/>
          <ac:spMkLst>
            <pc:docMk/>
            <pc:sldMk cId="2470527098" sldId="1534"/>
            <ac:spMk id="10" creationId="{87F0BD15-F40C-E346-F977-CE7D108EFAD8}"/>
          </ac:spMkLst>
        </pc:spChg>
        <pc:picChg chg="add mod">
          <ac:chgData name="mrutyunjay rana" userId="8aad90356bfd63a8" providerId="LiveId" clId="{60CFA60A-64DB-458F-BCAD-23900545B2CA}" dt="2026-09-20T19:01:32.682" v="642" actId="14100"/>
          <ac:picMkLst>
            <pc:docMk/>
            <pc:sldMk cId="2470527098" sldId="1534"/>
            <ac:picMk id="6" creationId="{4570583F-DE71-530F-05DC-087E3BD3CE8A}"/>
          </ac:picMkLst>
        </pc:picChg>
        <pc:picChg chg="del">
          <ac:chgData name="mrutyunjay rana" userId="8aad90356bfd63a8" providerId="LiveId" clId="{60CFA60A-64DB-458F-BCAD-23900545B2CA}" dt="2026-09-20T18:57:03.176" v="626" actId="478"/>
          <ac:picMkLst>
            <pc:docMk/>
            <pc:sldMk cId="2470527098" sldId="1534"/>
            <ac:picMk id="9" creationId="{8E639657-31EE-744C-296C-9159B57096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2700E-C711-8476-2B0C-8A599C80C6DF}"/>
              </a:ext>
            </a:extLst>
          </p:cNvPr>
          <p:cNvSpPr txBox="1"/>
          <p:nvPr/>
        </p:nvSpPr>
        <p:spPr>
          <a:xfrm>
            <a:off x="5986272" y="1271016"/>
            <a:ext cx="588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kern="0" dirty="0">
                <a:solidFill>
                  <a:prstClr val="black">
                    <a:lumMod val="85000"/>
                    <a:lumOff val="15000"/>
                  </a:prstClr>
                </a:solidFill>
                <a:cs typeface="Arial"/>
                <a:sym typeface="Arial"/>
              </a:rPr>
              <a:t>PROJECT TITLE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42236-97FB-B05B-E10C-B3CE7B365FD7}"/>
              </a:ext>
            </a:extLst>
          </p:cNvPr>
          <p:cNvSpPr txBox="1"/>
          <p:nvPr/>
        </p:nvSpPr>
        <p:spPr>
          <a:xfrm>
            <a:off x="6096000" y="1732681"/>
            <a:ext cx="5772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TELECOM CUSTOMER CHURN ANALYTICS</a:t>
            </a:r>
          </a:p>
          <a:p>
            <a:pPr algn="ctr"/>
            <a:r>
              <a:rPr lang="en-IN" b="1" dirty="0"/>
              <a:t>Name : </a:t>
            </a:r>
            <a:r>
              <a:rPr lang="en-IN" b="1" dirty="0" err="1"/>
              <a:t>Sradhanjali</a:t>
            </a:r>
            <a:r>
              <a:rPr lang="en-IN" b="1" dirty="0"/>
              <a:t> Rana</a:t>
            </a:r>
          </a:p>
          <a:p>
            <a:pPr algn="ctr"/>
            <a:endParaRPr lang="en-IN" b="1" dirty="0"/>
          </a:p>
          <a:p>
            <a:r>
              <a:rPr lang="en-IN" b="1" dirty="0"/>
              <a:t>Industry:</a:t>
            </a:r>
            <a:r>
              <a:rPr lang="en-IN" dirty="0"/>
              <a:t> Telecom</a:t>
            </a:r>
            <a:br>
              <a:rPr lang="en-IN" dirty="0"/>
            </a:br>
            <a:r>
              <a:rPr lang="en-IN" b="1" dirty="0"/>
              <a:t>Function:</a:t>
            </a:r>
            <a:r>
              <a:rPr lang="en-IN" dirty="0"/>
              <a:t> Operations</a:t>
            </a:r>
            <a:br>
              <a:rPr lang="en-IN" dirty="0"/>
            </a:br>
            <a:r>
              <a:rPr lang="en-IN" b="1" dirty="0"/>
              <a:t>Dataset Source:</a:t>
            </a:r>
            <a:r>
              <a:rPr lang="en-IN" dirty="0"/>
              <a:t> Kaggle – Telecom Churn Case Study Hackathon</a:t>
            </a:r>
          </a:p>
          <a:p>
            <a:r>
              <a:rPr lang="en-IN" b="1" dirty="0"/>
              <a:t>Project</a:t>
            </a:r>
            <a:r>
              <a:rPr lang="en-IN" dirty="0"/>
              <a:t>: Customer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548906-2A3E-6EB1-61DD-F071DF12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0"/>
            <a:ext cx="11996928" cy="521208"/>
          </a:xfrm>
        </p:spPr>
        <p:txBody>
          <a:bodyPr/>
          <a:lstStyle/>
          <a:p>
            <a:pPr algn="ctr"/>
            <a:r>
              <a:rPr lang="en-IN" sz="2400" dirty="0"/>
              <a:t>DATASET SELECTION CRITERIA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5EC2A-DB50-B881-0D57-1B03B9D7C682}"/>
              </a:ext>
            </a:extLst>
          </p:cNvPr>
          <p:cNvSpPr txBox="1"/>
          <p:nvPr/>
        </p:nvSpPr>
        <p:spPr>
          <a:xfrm>
            <a:off x="91440" y="722376"/>
            <a:ext cx="119054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Publicly Available Data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Source: Kaggle – Telecom Churn Case Study Hackathon </a:t>
            </a:r>
          </a:p>
          <a:p>
            <a:r>
              <a:rPr lang="en-IN" b="1" dirty="0"/>
              <a:t>Multiple Related Files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4 files: train.csv, test.csv, sample.csv, data_dictionary.csv </a:t>
            </a:r>
          </a:p>
          <a:p>
            <a:r>
              <a:rPr lang="en-IN" b="1" dirty="0"/>
              <a:t>Sufficient Data Volume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Training dataset: </a:t>
            </a:r>
            <a:r>
              <a:rPr lang="en-IN" b="1" dirty="0"/>
              <a:t>69,999 records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Training dataset: </a:t>
            </a:r>
            <a:r>
              <a:rPr lang="en-IN" b="1" dirty="0"/>
              <a:t>172 columns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Test dataset: </a:t>
            </a:r>
            <a:r>
              <a:rPr lang="en-IN" b="1" dirty="0"/>
              <a:t>30,000 records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Dataset satisfies the requirement of </a:t>
            </a:r>
            <a:r>
              <a:rPr lang="en-IN" b="1" dirty="0"/>
              <a:t>10,000+ records and 30+ columns</a:t>
            </a:r>
            <a:r>
              <a:rPr lang="en-IN" dirty="0"/>
              <a:t> </a:t>
            </a:r>
          </a:p>
          <a:p>
            <a:r>
              <a:rPr lang="en-IN" b="1" dirty="0"/>
              <a:t>Industry:</a:t>
            </a:r>
            <a:r>
              <a:rPr lang="en-IN" dirty="0"/>
              <a:t> Telecom</a:t>
            </a:r>
            <a:br>
              <a:rPr lang="en-IN" dirty="0"/>
            </a:br>
            <a:r>
              <a:rPr lang="en-IN" b="1" dirty="0"/>
              <a:t>Function:</a:t>
            </a:r>
            <a:r>
              <a:rPr lang="en-IN" dirty="0"/>
              <a:t>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62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F921-23F0-4DE8-E65F-53548327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0"/>
            <a:ext cx="11987784" cy="612648"/>
          </a:xfrm>
        </p:spPr>
        <p:txBody>
          <a:bodyPr/>
          <a:lstStyle/>
          <a:p>
            <a:pPr algn="ctr"/>
            <a:r>
              <a:rPr lang="en-IN" sz="2400" dirty="0"/>
              <a:t>PROBLEM STATEMENT &amp; BUSINESS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0F32F-E92C-9BF5-64CE-A32C31DBCCEB}"/>
              </a:ext>
            </a:extLst>
          </p:cNvPr>
          <p:cNvSpPr txBox="1"/>
          <p:nvPr/>
        </p:nvSpPr>
        <p:spPr>
          <a:xfrm>
            <a:off x="329184" y="786384"/>
            <a:ext cx="116403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Telecom companies may lose customers when their usage, recharge </a:t>
            </a:r>
            <a:r>
              <a:rPr lang="en-IN" dirty="0" err="1"/>
              <a:t>behavior</a:t>
            </a:r>
            <a:r>
              <a:rPr lang="en-IN" dirty="0"/>
              <a:t>, revenue contribution or service engagement changes over time. The business needs to understand customer </a:t>
            </a:r>
            <a:r>
              <a:rPr lang="en-IN" dirty="0" err="1"/>
              <a:t>behavior</a:t>
            </a:r>
            <a:r>
              <a:rPr lang="en-IN" dirty="0"/>
              <a:t> and identify patterns associated with churn.</a:t>
            </a:r>
          </a:p>
          <a:p>
            <a:r>
              <a:rPr lang="en-IN" b="1" dirty="0"/>
              <a:t>Business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factors associated with customer churn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Understand customer usage and recharge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high-risk customer segments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customer retention strategies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 customer attrition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Improve customer lifetime value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29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153E-793E-8D85-4346-C06CD5E5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0"/>
            <a:ext cx="11960352" cy="548640"/>
          </a:xfrm>
        </p:spPr>
        <p:txBody>
          <a:bodyPr/>
          <a:lstStyle/>
          <a:p>
            <a:pPr algn="ctr"/>
            <a:r>
              <a:rPr lang="en-IN" sz="2400" dirty="0"/>
              <a:t>DATA DESCRIPTION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3E586D-4CDE-5708-C575-689A1BAD3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781513"/>
              </p:ext>
            </p:extLst>
          </p:nvPr>
        </p:nvGraphicFramePr>
        <p:xfrm>
          <a:off x="320040" y="1261872"/>
          <a:ext cx="11503152" cy="2636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1576">
                  <a:extLst>
                    <a:ext uri="{9D8B030D-6E8A-4147-A177-3AD203B41FA5}">
                      <a16:colId xmlns:a16="http://schemas.microsoft.com/office/drawing/2014/main" val="38618161"/>
                    </a:ext>
                  </a:extLst>
                </a:gridCol>
                <a:gridCol w="5751576">
                  <a:extLst>
                    <a:ext uri="{9D8B030D-6E8A-4147-A177-3AD203B41FA5}">
                      <a16:colId xmlns:a16="http://schemas.microsoft.com/office/drawing/2014/main" val="654484582"/>
                    </a:ext>
                  </a:extLst>
                </a:gridCol>
              </a:tblGrid>
              <a:tr h="373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628899"/>
                  </a:ext>
                </a:extLst>
              </a:tr>
              <a:tr h="622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train.csv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Customer-level telecom data containing usage, recharge, service and churn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926044"/>
                  </a:ext>
                </a:extLst>
              </a:tr>
              <a:tr h="622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Customer-level telecom data used for churn prediction without the target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136281"/>
                  </a:ext>
                </a:extLst>
              </a:tr>
              <a:tr h="566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sample.csv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Sample submission format for the prediction 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198118"/>
                  </a:ext>
                </a:extLst>
              </a:tr>
              <a:tr h="354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data_dictionary.csv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Definitions of telecom acronyms and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8393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4264F6-519E-64B7-034B-9B7450156AD3}"/>
              </a:ext>
            </a:extLst>
          </p:cNvPr>
          <p:cNvSpPr txBox="1"/>
          <p:nvPr/>
        </p:nvSpPr>
        <p:spPr>
          <a:xfrm>
            <a:off x="368808" y="749808"/>
            <a:ext cx="2121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File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6104B-CE68-B06C-B30B-0FB42A7B7115}"/>
              </a:ext>
            </a:extLst>
          </p:cNvPr>
          <p:cNvSpPr txBox="1"/>
          <p:nvPr/>
        </p:nvSpPr>
        <p:spPr>
          <a:xfrm>
            <a:off x="320040" y="4010560"/>
            <a:ext cx="288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D2412-FD60-9BE7-9A81-CEB157E1B39D}"/>
              </a:ext>
            </a:extLst>
          </p:cNvPr>
          <p:cNvSpPr txBox="1"/>
          <p:nvPr/>
        </p:nvSpPr>
        <p:spPr>
          <a:xfrm>
            <a:off x="368808" y="4522624"/>
            <a:ext cx="5629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Train:</a:t>
            </a:r>
            <a:r>
              <a:rPr lang="en-IN" dirty="0"/>
              <a:t> 69,999 records × 172 columns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Test:</a:t>
            </a:r>
            <a:r>
              <a:rPr lang="en-IN" dirty="0"/>
              <a:t> 30,000 records × 171 columns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Dictionary:</a:t>
            </a:r>
            <a:r>
              <a:rPr lang="en-IN" dirty="0"/>
              <a:t> 36 variables/acronyms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5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7F647-3DC8-9D5A-BB51-061C4FDC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0"/>
            <a:ext cx="11960352" cy="612648"/>
          </a:xfrm>
        </p:spPr>
        <p:txBody>
          <a:bodyPr/>
          <a:lstStyle/>
          <a:p>
            <a:pPr algn="ctr"/>
            <a:r>
              <a:rPr lang="en-IN" sz="2400" dirty="0"/>
              <a:t>DATA DICTIONARY – KEY VARIABLES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C27FBE-20C1-6C69-C06A-D6518E50C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578409"/>
              </p:ext>
            </p:extLst>
          </p:nvPr>
        </p:nvGraphicFramePr>
        <p:xfrm>
          <a:off x="310897" y="612649"/>
          <a:ext cx="11679936" cy="4647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3312">
                  <a:extLst>
                    <a:ext uri="{9D8B030D-6E8A-4147-A177-3AD203B41FA5}">
                      <a16:colId xmlns:a16="http://schemas.microsoft.com/office/drawing/2014/main" val="1412204960"/>
                    </a:ext>
                  </a:extLst>
                </a:gridCol>
                <a:gridCol w="3893312">
                  <a:extLst>
                    <a:ext uri="{9D8B030D-6E8A-4147-A177-3AD203B41FA5}">
                      <a16:colId xmlns:a16="http://schemas.microsoft.com/office/drawing/2014/main" val="1031626001"/>
                    </a:ext>
                  </a:extLst>
                </a:gridCol>
                <a:gridCol w="3893312">
                  <a:extLst>
                    <a:ext uri="{9D8B030D-6E8A-4147-A177-3AD203B41FA5}">
                      <a16:colId xmlns:a16="http://schemas.microsoft.com/office/drawing/2014/main" val="3590861381"/>
                    </a:ext>
                  </a:extLst>
                </a:gridCol>
              </a:tblGrid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Variable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Meaning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Business Relevance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181270843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id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Unique customer identifier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Customer identification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4252910391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circle_id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Telecom circle/area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Geographic analysis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3238264714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ARPU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Average Revenue Per User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Customer revenue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4165667558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MOU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Minutes of Usage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Voice usage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735777225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AON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Age on Network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Customer tenure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1743999370"/>
                  </a:ext>
                </a:extLst>
              </a:tr>
              <a:tr h="440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ONNET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Calls within same operator network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Network usage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3640237072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OFFNET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Calls outside operator network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External calling behavior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1173119866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RECH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Recharge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Recharge behavior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1429158140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AMT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Amount in local currency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Monetary value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2977345911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Mobile internet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 service usage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419051775"/>
                  </a:ext>
                </a:extLst>
              </a:tr>
              <a:tr h="440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Mobile internet usage volume in MB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 consumption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3320912657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2G / 3G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Mobile network technology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 usage type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1531448880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FB_USER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Facebook service usage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Service engagement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3357874023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VBC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Volume Based Cost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Usage-based cost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3869080968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*.6 / *.7 / *.8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June / July / August KPI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Monthly behavior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2074015067"/>
                  </a:ext>
                </a:extLst>
              </a:tr>
              <a:tr h="24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churn_probability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Churn target (0/1)</a:t>
                      </a:r>
                    </a:p>
                  </a:txBody>
                  <a:tcPr marL="57161" marR="57161" marT="28580" marB="285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Churn outcome</a:t>
                      </a:r>
                    </a:p>
                  </a:txBody>
                  <a:tcPr marL="57161" marR="57161" marT="28580" marB="28580" anchor="ctr"/>
                </a:tc>
                <a:extLst>
                  <a:ext uri="{0D108BD9-81ED-4DB2-BD59-A6C34878D82A}">
                    <a16:rowId xmlns:a16="http://schemas.microsoft.com/office/drawing/2014/main" val="26969230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7914B6-FC1F-479F-DEC1-282A7214BB65}"/>
              </a:ext>
            </a:extLst>
          </p:cNvPr>
          <p:cNvSpPr txBox="1"/>
          <p:nvPr/>
        </p:nvSpPr>
        <p:spPr>
          <a:xfrm>
            <a:off x="237745" y="5413248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Source:</a:t>
            </a:r>
            <a:r>
              <a:rPr lang="en-IN" sz="1600" dirty="0"/>
              <a:t> Kaggle – Telecom Churn Case Study Hackathon 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62753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D1BF-9CE6-F65B-42D4-FE4A9AC9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3504"/>
          </a:xfrm>
        </p:spPr>
        <p:txBody>
          <a:bodyPr/>
          <a:lstStyle/>
          <a:p>
            <a:pPr algn="ctr"/>
            <a:r>
              <a:rPr lang="en-IN" sz="2400" dirty="0"/>
              <a:t>ER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7812C-1EFA-ED6C-0318-17AFFCE01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36" y="470453"/>
            <a:ext cx="9993120" cy="4723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A8E949-95F2-ED4A-3962-0BA05DD36066}"/>
              </a:ext>
            </a:extLst>
          </p:cNvPr>
          <p:cNvSpPr txBox="1"/>
          <p:nvPr/>
        </p:nvSpPr>
        <p:spPr>
          <a:xfrm>
            <a:off x="953136" y="5358384"/>
            <a:ext cx="99931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Dataset Structure:</a:t>
            </a:r>
            <a:r>
              <a:rPr lang="en-IN" sz="1600" dirty="0"/>
              <a:t> The project uses separate training, testing, submission and data-dictionary files.</a:t>
            </a:r>
          </a:p>
          <a:p>
            <a:r>
              <a:rPr lang="en-IN" sz="1600" b="1" dirty="0"/>
              <a:t>Note:</a:t>
            </a:r>
            <a:r>
              <a:rPr lang="en-IN" sz="1600" dirty="0"/>
              <a:t> The datasets do not contain direct foreign-key relationships; they are used for different stages of the churn analysis workflow.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0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2541-3C97-369D-52BA-8005D6D2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84632"/>
          </a:xfrm>
        </p:spPr>
        <p:txBody>
          <a:bodyPr/>
          <a:lstStyle/>
          <a:p>
            <a:pPr algn="ctr"/>
            <a:r>
              <a:rPr lang="en-IN" sz="2400" dirty="0"/>
              <a:t>TECHNOLOGY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95D629-2DB7-0A43-425D-D14C097A4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891772"/>
              </p:ext>
            </p:extLst>
          </p:nvPr>
        </p:nvGraphicFramePr>
        <p:xfrm>
          <a:off x="356616" y="786385"/>
          <a:ext cx="11551920" cy="4297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75960">
                  <a:extLst>
                    <a:ext uri="{9D8B030D-6E8A-4147-A177-3AD203B41FA5}">
                      <a16:colId xmlns:a16="http://schemas.microsoft.com/office/drawing/2014/main" val="733808424"/>
                    </a:ext>
                  </a:extLst>
                </a:gridCol>
                <a:gridCol w="5775960">
                  <a:extLst>
                    <a:ext uri="{9D8B030D-6E8A-4147-A177-3AD203B41FA5}">
                      <a16:colId xmlns:a16="http://schemas.microsoft.com/office/drawing/2014/main" val="2587531934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12968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Initial data review and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19305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SQL – Snowflake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querying, filtering and joining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89156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Python – Jupyter Notebook / </a:t>
                      </a:r>
                      <a:r>
                        <a:rPr lang="en-IN" b="1" dirty="0" err="1"/>
                        <a:t>DataBricks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cleaning, analysis and predictive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87719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management and 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37629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Streamlit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data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301859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Dashboard, KPIs and 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6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06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E00C-0B75-E06E-219A-CC3FC474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12064"/>
          </a:xfrm>
        </p:spPr>
        <p:txBody>
          <a:bodyPr/>
          <a:lstStyle/>
          <a:p>
            <a:pPr algn="ctr"/>
            <a:r>
              <a:rPr lang="en-IN" sz="2400" dirty="0"/>
              <a:t>DATA ANALYSIS PERFORMED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03D7E-21A1-B776-40BF-11EC6C591972}"/>
              </a:ext>
            </a:extLst>
          </p:cNvPr>
          <p:cNvSpPr txBox="1"/>
          <p:nvPr/>
        </p:nvSpPr>
        <p:spPr>
          <a:xfrm>
            <a:off x="210312" y="512065"/>
            <a:ext cx="1183233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1. Data Quality Analysis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Missing value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Null value checks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 customer ID check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Unique customer validation </a:t>
            </a:r>
          </a:p>
          <a:p>
            <a:r>
              <a:rPr lang="en-IN" sz="1600" b="1" dirty="0"/>
              <a:t>2. Customer </a:t>
            </a:r>
            <a:r>
              <a:rPr lang="en-IN" sz="1600" b="1" dirty="0" err="1"/>
              <a:t>Behavior</a:t>
            </a:r>
            <a:r>
              <a:rPr lang="en-IN" sz="1600" b="1" dirty="0"/>
              <a:t> Analysis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distribution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ARPU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tenure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Recharge </a:t>
            </a:r>
            <a:r>
              <a:rPr lang="en-IN" sz="1600" dirty="0" err="1"/>
              <a:t>behavior</a:t>
            </a:r>
            <a:r>
              <a:rPr lang="en-IN" sz="1600" dirty="0"/>
              <a:t>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Voice usage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Data usage analysis </a:t>
            </a:r>
          </a:p>
          <a:p>
            <a:r>
              <a:rPr lang="en-IN" sz="1600" b="1" dirty="0"/>
              <a:t>3. Trend &amp; Diagnostic Analysis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Monthly ARPU trend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vs ARPU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vs tenure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vs recharge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vs voice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Churn vs data usage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2D2D0-36D5-D85C-198A-70AA9E1E555B}"/>
              </a:ext>
            </a:extLst>
          </p:cNvPr>
          <p:cNvSpPr txBox="1"/>
          <p:nvPr/>
        </p:nvSpPr>
        <p:spPr>
          <a:xfrm>
            <a:off x="210312" y="5449824"/>
            <a:ext cx="809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Descriptive Analysis → Diagnostic Analysis → Predictive Analysis</a:t>
            </a:r>
          </a:p>
        </p:txBody>
      </p:sp>
    </p:spTree>
    <p:extLst>
      <p:ext uri="{BB962C8B-B14F-4D97-AF65-F5344CB8AC3E}">
        <p14:creationId xmlns:p14="http://schemas.microsoft.com/office/powerpoint/2010/main" val="351670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23B58-466B-FB0C-47B3-F8B9D299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4BCF-C304-7681-DE36-9EFEBCEF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6072"/>
          </a:xfrm>
        </p:spPr>
        <p:txBody>
          <a:bodyPr/>
          <a:lstStyle/>
          <a:p>
            <a:pPr algn="ctr"/>
            <a:r>
              <a:rPr lang="en-IN" sz="2400" dirty="0"/>
              <a:t>POWER BI DASHBOARD 1 — EXECUTIVE CHURN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63A26-05D2-37AD-14F2-F34C5D6AF78F}"/>
              </a:ext>
            </a:extLst>
          </p:cNvPr>
          <p:cNvSpPr txBox="1"/>
          <p:nvPr/>
        </p:nvSpPr>
        <p:spPr>
          <a:xfrm>
            <a:off x="155448" y="5568696"/>
            <a:ext cx="59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ED097-5CC7-E29F-2ABF-BC3EFE50AD8F}"/>
              </a:ext>
            </a:extLst>
          </p:cNvPr>
          <p:cNvSpPr txBox="1"/>
          <p:nvPr/>
        </p:nvSpPr>
        <p:spPr>
          <a:xfrm>
            <a:off x="155448" y="5324046"/>
            <a:ext cx="119603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Purpose:</a:t>
            </a:r>
            <a:r>
              <a:rPr lang="en-IN" sz="1600" dirty="0"/>
              <a:t> Provides an executive-level view of the customer base, churn rate, ARPU and tenure distribution.</a:t>
            </a:r>
          </a:p>
          <a:p>
            <a:r>
              <a:rPr lang="en-IN" sz="1600" b="1" dirty="0"/>
              <a:t>Business Use:</a:t>
            </a:r>
            <a:r>
              <a:rPr lang="en-IN" sz="1600" dirty="0"/>
              <a:t> Helps stakeholders monitor overall churn performance and identify customer segments for further analysis.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C1C82A-B165-83F5-AF3A-5ACC4C2B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475488"/>
            <a:ext cx="11677135" cy="484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10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BCB0-F153-8EE3-D0C1-34DFEA17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5690-EA35-ADD5-C1C4-0EAB5F50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6072"/>
          </a:xfrm>
        </p:spPr>
        <p:txBody>
          <a:bodyPr/>
          <a:lstStyle/>
          <a:p>
            <a:pPr algn="ctr"/>
            <a:r>
              <a:rPr lang="en-IN" sz="2400" dirty="0"/>
              <a:t>POWER BI DASHBOARD 2 — CUSTOMER USAGE &amp; RECHARGE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DBF00-25A7-652D-5B02-CB1D2211CB0A}"/>
              </a:ext>
            </a:extLst>
          </p:cNvPr>
          <p:cNvSpPr txBox="1"/>
          <p:nvPr/>
        </p:nvSpPr>
        <p:spPr>
          <a:xfrm>
            <a:off x="155448" y="5568696"/>
            <a:ext cx="59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BD8AB-FA4D-C3EE-CAC5-251B8AA9A278}"/>
              </a:ext>
            </a:extLst>
          </p:cNvPr>
          <p:cNvSpPr txBox="1"/>
          <p:nvPr/>
        </p:nvSpPr>
        <p:spPr>
          <a:xfrm>
            <a:off x="155448" y="5324046"/>
            <a:ext cx="11960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Purpose:</a:t>
            </a:r>
            <a:r>
              <a:rPr lang="en-IN" sz="1600" dirty="0" err="1"/>
              <a:t>Analyzes</a:t>
            </a:r>
            <a:r>
              <a:rPr lang="en-IN" sz="1600" dirty="0"/>
              <a:t> customer recharge, voice usage and data usage patterns across churn status.</a:t>
            </a:r>
          </a:p>
          <a:p>
            <a:r>
              <a:rPr lang="en-IN" sz="1600" b="1" dirty="0"/>
              <a:t>Business </a:t>
            </a:r>
            <a:r>
              <a:rPr lang="en-IN" sz="1600" b="1" dirty="0" err="1"/>
              <a:t>Use:</a:t>
            </a:r>
            <a:r>
              <a:rPr lang="en-IN" sz="1600" dirty="0" err="1"/>
              <a:t>Helps</a:t>
            </a:r>
            <a:r>
              <a:rPr lang="en-IN" sz="1600" dirty="0"/>
              <a:t> identify usage and recharge patterns associated with customer churn.</a:t>
            </a:r>
          </a:p>
          <a:p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49E24-D771-529F-A522-78C299CE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480060"/>
            <a:ext cx="11612880" cy="484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C8D1-2EA6-2AA5-34C8-225F578B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FBF7-1AC2-9C9C-094F-BBC7F45C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6072"/>
          </a:xfrm>
        </p:spPr>
        <p:txBody>
          <a:bodyPr/>
          <a:lstStyle/>
          <a:p>
            <a:pPr algn="ctr"/>
            <a:r>
              <a:rPr lang="en-IN" sz="2400" dirty="0"/>
              <a:t>POWER BI DASHBOARD 3 — HIGH-RISK CUSTOMER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CC7E4-0EDD-2475-A180-B61904F3BCEA}"/>
              </a:ext>
            </a:extLst>
          </p:cNvPr>
          <p:cNvSpPr txBox="1"/>
          <p:nvPr/>
        </p:nvSpPr>
        <p:spPr>
          <a:xfrm>
            <a:off x="155448" y="5568696"/>
            <a:ext cx="59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233F2-1763-78E6-85B0-71C04C11545A}"/>
              </a:ext>
            </a:extLst>
          </p:cNvPr>
          <p:cNvSpPr txBox="1"/>
          <p:nvPr/>
        </p:nvSpPr>
        <p:spPr>
          <a:xfrm>
            <a:off x="280068" y="5440680"/>
            <a:ext cx="11835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Purpose:</a:t>
            </a:r>
            <a:r>
              <a:rPr lang="en-IN" sz="1600" dirty="0" err="1"/>
              <a:t>Analyzes</a:t>
            </a:r>
            <a:r>
              <a:rPr lang="en-IN" sz="1600" dirty="0"/>
              <a:t> churn across tenure, recharge, voice usage, data usage and ARPU.</a:t>
            </a:r>
          </a:p>
          <a:p>
            <a:r>
              <a:rPr lang="en-IN" sz="1600" b="1" dirty="0"/>
              <a:t>Business </a:t>
            </a:r>
            <a:r>
              <a:rPr lang="en-IN" sz="1600" b="1" dirty="0" err="1"/>
              <a:t>Use:</a:t>
            </a:r>
            <a:r>
              <a:rPr lang="en-IN" sz="1600" dirty="0" err="1"/>
              <a:t>Helps</a:t>
            </a:r>
            <a:r>
              <a:rPr lang="en-IN" sz="1600" dirty="0"/>
              <a:t> identify customer segments that require further retention analysis.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C1622-C701-5E1C-DA28-FD22E64FC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69" y="569726"/>
            <a:ext cx="11711109" cy="478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25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D1BC6-3B4A-FC4D-0114-195A9A21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979D-63FB-3FF8-04D4-28981D30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6072"/>
          </a:xfrm>
        </p:spPr>
        <p:txBody>
          <a:bodyPr/>
          <a:lstStyle/>
          <a:p>
            <a:pPr algn="ctr"/>
            <a:r>
              <a:rPr lang="en-IN" sz="2400" dirty="0"/>
              <a:t>PREDICTIVE MODELING —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800F0-9492-0E46-C4AC-D8DA5FFCC117}"/>
              </a:ext>
            </a:extLst>
          </p:cNvPr>
          <p:cNvSpPr txBox="1"/>
          <p:nvPr/>
        </p:nvSpPr>
        <p:spPr>
          <a:xfrm>
            <a:off x="155448" y="5568696"/>
            <a:ext cx="59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9399E-E699-938D-E2B9-0CD2FBD6D19F}"/>
              </a:ext>
            </a:extLst>
          </p:cNvPr>
          <p:cNvSpPr txBox="1"/>
          <p:nvPr/>
        </p:nvSpPr>
        <p:spPr>
          <a:xfrm>
            <a:off x="274320" y="694944"/>
            <a:ext cx="53675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Model:</a:t>
            </a:r>
            <a:r>
              <a:rPr lang="en-IN" dirty="0"/>
              <a:t> Logistic Regression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Objective:</a:t>
            </a:r>
            <a:r>
              <a:rPr lang="en-IN" dirty="0"/>
              <a:t> Predict customer churn probability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Target Variable:</a:t>
            </a:r>
            <a:r>
              <a:rPr lang="en-IN" dirty="0"/>
              <a:t> </a:t>
            </a:r>
            <a:r>
              <a:rPr lang="en-IN" dirty="0" err="1"/>
              <a:t>churn_probability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Target Classes:</a:t>
            </a:r>
            <a:r>
              <a:rPr lang="en-IN" dirty="0"/>
              <a:t> 0 = Non-Churn, 1 = Churn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Input Features:</a:t>
            </a:r>
            <a:r>
              <a:rPr lang="en-IN" dirty="0"/>
              <a:t> ARPU, tenure, recharge, voice usage and data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Estimate the probability of customer churn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5C613-632E-E6C3-D6DD-3AF18BC0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618" y="576072"/>
            <a:ext cx="5134692" cy="4315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9394B-B070-AA47-797C-CC67B4F3406A}"/>
              </a:ext>
            </a:extLst>
          </p:cNvPr>
          <p:cNvSpPr txBox="1"/>
          <p:nvPr/>
        </p:nvSpPr>
        <p:spPr>
          <a:xfrm>
            <a:off x="274320" y="5093208"/>
            <a:ext cx="1150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Business Use:</a:t>
            </a:r>
            <a:r>
              <a:rPr lang="en-IN" dirty="0"/>
              <a:t> The model provides a baseline churn prediction that can support customer retention analysis.</a:t>
            </a:r>
          </a:p>
        </p:txBody>
      </p:sp>
    </p:spTree>
    <p:extLst>
      <p:ext uri="{BB962C8B-B14F-4D97-AF65-F5344CB8AC3E}">
        <p14:creationId xmlns:p14="http://schemas.microsoft.com/office/powerpoint/2010/main" val="410329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D0B8-BD8C-AC1A-A82E-1F007FBC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0340-5D9C-8E20-3B04-D0895284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76072"/>
          </a:xfrm>
        </p:spPr>
        <p:txBody>
          <a:bodyPr/>
          <a:lstStyle/>
          <a:p>
            <a:pPr algn="ctr"/>
            <a:r>
              <a:rPr lang="en-IN" sz="2400" dirty="0"/>
              <a:t>STREAMLIT APPLICATION — TELECOM CUSTOMER CHURN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1F378-1060-C30B-0C0D-83949F4DC603}"/>
              </a:ext>
            </a:extLst>
          </p:cNvPr>
          <p:cNvSpPr txBox="1"/>
          <p:nvPr/>
        </p:nvSpPr>
        <p:spPr>
          <a:xfrm>
            <a:off x="155448" y="5568696"/>
            <a:ext cx="59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0583F-DE71-530F-05DC-087E3BD3C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073"/>
            <a:ext cx="11969496" cy="4809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B91985-F256-BDDF-C2C8-F756A135C5E3}"/>
              </a:ext>
            </a:extLst>
          </p:cNvPr>
          <p:cNvSpPr txBox="1"/>
          <p:nvPr/>
        </p:nvSpPr>
        <p:spPr>
          <a:xfrm>
            <a:off x="67056" y="5568696"/>
            <a:ext cx="119694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Purpose:</a:t>
            </a:r>
            <a:r>
              <a:rPr lang="en-IN" sz="1600" dirty="0"/>
              <a:t> Provides an interactive web-based interface for exploring telecom customer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Technology:</a:t>
            </a:r>
            <a:r>
              <a:rPr lang="en-IN" sz="1600" dirty="0"/>
              <a:t> Python + </a:t>
            </a:r>
            <a:r>
              <a:rPr lang="en-IN" sz="1600" dirty="0" err="1"/>
              <a:t>Streamlit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52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4227-928D-74E1-4FCF-B030C203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496"/>
          </a:xfrm>
        </p:spPr>
        <p:txBody>
          <a:bodyPr/>
          <a:lstStyle/>
          <a:p>
            <a:pPr algn="ctr"/>
            <a:r>
              <a:rPr lang="en-IN" sz="2400" dirty="0"/>
              <a:t>END-TO-END PROJECT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93C0-FE1F-7138-54E6-653AE1ED20AF}"/>
              </a:ext>
            </a:extLst>
          </p:cNvPr>
          <p:cNvSpPr txBox="1"/>
          <p:nvPr/>
        </p:nvSpPr>
        <p:spPr>
          <a:xfrm>
            <a:off x="228600" y="5061134"/>
            <a:ext cx="1169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End-to-end workflow for telecom customer churn analysis, from data preparation to business visualization and predictive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97E66-9819-279C-0A74-7D1381844E70}"/>
              </a:ext>
            </a:extLst>
          </p:cNvPr>
          <p:cNvSpPr txBox="1"/>
          <p:nvPr/>
        </p:nvSpPr>
        <p:spPr>
          <a:xfrm>
            <a:off x="347472" y="676656"/>
            <a:ext cx="111739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Dataset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Excel — Initial Data Review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Snowflake — SQL Analysis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Databricks — Data Cleaning &amp; Python Analysis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Logistic Regression — Churn Prediction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Power BI — Interactive Dashboards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Streamlit</a:t>
            </a:r>
            <a:r>
              <a:rPr lang="en-IN" dirty="0"/>
              <a:t> — Web Application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GitHub — 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78757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C2D0-E53A-E803-9EE3-00C71FED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9496"/>
          </a:xfrm>
        </p:spPr>
        <p:txBody>
          <a:bodyPr/>
          <a:lstStyle/>
          <a:p>
            <a:pPr algn="ctr"/>
            <a:r>
              <a:rPr lang="en-IN" sz="2400" dirty="0"/>
              <a:t>KEY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281C2-7107-873F-6ED3-11691586D4B2}"/>
              </a:ext>
            </a:extLst>
          </p:cNvPr>
          <p:cNvSpPr txBox="1"/>
          <p:nvPr/>
        </p:nvSpPr>
        <p:spPr>
          <a:xfrm>
            <a:off x="420624" y="813815"/>
            <a:ext cx="9445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Overall churn rate is 10.19%</a:t>
            </a:r>
            <a:r>
              <a:rPr lang="en-IN" dirty="0"/>
              <a:t> across 69,999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7,132 customers are classified as churned.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 </a:t>
            </a:r>
            <a:r>
              <a:rPr lang="en-IN" b="1" dirty="0"/>
              <a:t>ARPU, recharge </a:t>
            </a:r>
            <a:r>
              <a:rPr lang="en-IN" b="1" dirty="0" err="1"/>
              <a:t>behavior</a:t>
            </a:r>
            <a:r>
              <a:rPr lang="en-IN" b="1" dirty="0"/>
              <a:t> and usage patterns</a:t>
            </a:r>
            <a:r>
              <a:rPr lang="en-IN" dirty="0"/>
              <a:t> differ across churn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Tenure-based analysis</a:t>
            </a:r>
            <a:r>
              <a:rPr lang="en-IN" dirty="0"/>
              <a:t> helps identify customer groups with different churn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Logistic Regression provides a </a:t>
            </a:r>
            <a:r>
              <a:rPr lang="en-IN" b="1" dirty="0"/>
              <a:t>baseline approach for estimating churn probability</a:t>
            </a:r>
            <a:r>
              <a:rPr lang="en-IN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88421-D12B-945A-5705-7D87D98BEAC6}"/>
              </a:ext>
            </a:extLst>
          </p:cNvPr>
          <p:cNvSpPr txBox="1"/>
          <p:nvPr/>
        </p:nvSpPr>
        <p:spPr>
          <a:xfrm>
            <a:off x="420624" y="2788921"/>
            <a:ext cx="944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findings can support further customer retention and churn-reduction analysis.</a:t>
            </a:r>
          </a:p>
        </p:txBody>
      </p:sp>
    </p:spTree>
    <p:extLst>
      <p:ext uri="{BB962C8B-B14F-4D97-AF65-F5344CB8AC3E}">
        <p14:creationId xmlns:p14="http://schemas.microsoft.com/office/powerpoint/2010/main" val="417098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1467-8102-46FA-591F-03B00D16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94360"/>
          </a:xfrm>
        </p:spPr>
        <p:txBody>
          <a:bodyPr/>
          <a:lstStyle/>
          <a:p>
            <a:pPr algn="ctr"/>
            <a:r>
              <a:rPr lang="en-IN" sz="240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E6006-12B3-F70E-E0AE-2B99C8EAB440}"/>
              </a:ext>
            </a:extLst>
          </p:cNvPr>
          <p:cNvSpPr txBox="1"/>
          <p:nvPr/>
        </p:nvSpPr>
        <p:spPr>
          <a:xfrm>
            <a:off x="155448" y="594360"/>
            <a:ext cx="118597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 project </a:t>
            </a:r>
            <a:r>
              <a:rPr lang="en-IN" sz="1600" dirty="0" err="1"/>
              <a:t>analyzed</a:t>
            </a:r>
            <a:r>
              <a:rPr lang="en-IN" sz="1600" dirty="0"/>
              <a:t> customer churn using </a:t>
            </a:r>
            <a:r>
              <a:rPr lang="en-IN" sz="1600" b="1" dirty="0"/>
              <a:t>telecom usage, recharge, revenue and tenure data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Snowflake SQL</a:t>
            </a:r>
            <a:r>
              <a:rPr lang="en-IN" sz="1600" dirty="0"/>
              <a:t> was used for data verification and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Databricks Python</a:t>
            </a:r>
            <a:r>
              <a:rPr lang="en-IN" sz="1600" dirty="0"/>
              <a:t> was used for data cleaning, analysis and Logistic Regression.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Power BI</a:t>
            </a:r>
            <a:r>
              <a:rPr lang="en-IN" sz="1600" dirty="0"/>
              <a:t> dashboards provided interactive churn and customer </a:t>
            </a:r>
            <a:r>
              <a:rPr lang="en-IN" sz="1600" dirty="0" err="1"/>
              <a:t>behavior</a:t>
            </a:r>
            <a:r>
              <a:rPr lang="en-IN" sz="1600" dirty="0"/>
              <a:t>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Streamlit</a:t>
            </a:r>
            <a:r>
              <a:rPr lang="en-IN" sz="1600" dirty="0"/>
              <a:t> provided a simple web-based interface for exploring the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 project provides a foundation for </a:t>
            </a:r>
            <a:r>
              <a:rPr lang="en-IN" sz="1600" b="1" dirty="0"/>
              <a:t>customer retention and churn analysis</a:t>
            </a:r>
            <a:r>
              <a:rPr lang="en-IN" sz="1600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72A43-5E79-EBAC-7F6B-CE7E8D3156BF}"/>
              </a:ext>
            </a:extLst>
          </p:cNvPr>
          <p:cNvSpPr txBox="1"/>
          <p:nvPr/>
        </p:nvSpPr>
        <p:spPr>
          <a:xfrm>
            <a:off x="228600" y="2633472"/>
            <a:ext cx="1037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Overall, the project demonstrates an end-to-end approach to telecom customer churn analytics.</a:t>
            </a:r>
          </a:p>
        </p:txBody>
      </p:sp>
    </p:spTree>
    <p:extLst>
      <p:ext uri="{BB962C8B-B14F-4D97-AF65-F5344CB8AC3E}">
        <p14:creationId xmlns:p14="http://schemas.microsoft.com/office/powerpoint/2010/main" val="3154734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766298-908A-2F57-8308-D71075E09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25" y="-2100916"/>
            <a:ext cx="2657475" cy="574261"/>
          </a:xfrm>
        </p:spPr>
        <p:txBody>
          <a:bodyPr/>
          <a:lstStyle/>
          <a:p>
            <a:pPr marL="186262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EE241-C574-97E3-A84D-E443B972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7961856" y="-1887241"/>
            <a:ext cx="2655150" cy="36058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9ED956B0-31CE-41E2-7471-701BFF757068}"/>
              </a:ext>
            </a:extLst>
          </p:cNvPr>
          <p:cNvSpPr/>
          <p:nvPr/>
        </p:nvSpPr>
        <p:spPr>
          <a:xfrm>
            <a:off x="3929636" y="2609173"/>
            <a:ext cx="4147566" cy="1042416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cs typeface="Arial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15293</TotalTime>
  <Words>1017</Words>
  <Application>Microsoft Office PowerPoint</Application>
  <PresentationFormat>Widescreen</PresentationFormat>
  <Paragraphs>174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DATASET SELECTION CRITERIA</vt:lpstr>
      <vt:lpstr>PROBLEM STATEMENT &amp; BUSINESS OBJECTIVE</vt:lpstr>
      <vt:lpstr>DATA DESCRIPTION</vt:lpstr>
      <vt:lpstr>DATA DICTIONARY – KEY VARIABLES</vt:lpstr>
      <vt:lpstr>ER DIAGRAM</vt:lpstr>
      <vt:lpstr>TECHNOLOGY STACK</vt:lpstr>
      <vt:lpstr>DATA ANALYSIS PERFORMED</vt:lpstr>
      <vt:lpstr>POWER BI DASHBOARD 1 — EXECUTIVE CHURN OVERVIEW</vt:lpstr>
      <vt:lpstr>POWER BI DASHBOARD 2 — CUSTOMER USAGE &amp; RECHARGE ANALYSIS</vt:lpstr>
      <vt:lpstr>POWER BI DASHBOARD 3 — HIGH-RISK CUSTOMER ANALYSIS</vt:lpstr>
      <vt:lpstr>PREDICTIVE MODELING — LOGISTIC REGRESSION</vt:lpstr>
      <vt:lpstr>STREAMLIT APPLICATION — TELECOM CUSTOMER CHURN</vt:lpstr>
      <vt:lpstr>END-TO-END PROJECT WORKFLOW</vt:lpstr>
      <vt:lpstr>KEY FINDINGS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mrutyunjay rana</cp:lastModifiedBy>
  <cp:revision>590</cp:revision>
  <dcterms:created xsi:type="dcterms:W3CDTF">2025-04-04T02:52:34Z</dcterms:created>
  <dcterms:modified xsi:type="dcterms:W3CDTF">2026-09-20T19:46:17Z</dcterms:modified>
</cp:coreProperties>
</file>